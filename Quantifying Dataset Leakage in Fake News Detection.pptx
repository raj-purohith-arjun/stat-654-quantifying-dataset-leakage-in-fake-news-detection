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2FA0C-91B4-4740-8918-6180921117E8}" v="1" dt="2026-04-16T23:05:49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Track A (Leaky)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0.99160000000000004</c:v>
                </c:pt>
                <c:pt idx="1">
                  <c:v>0.99160000000000004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4-4485-8214-213365A4B0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 B Clean</c:v>
                </c:pt>
              </c:strCache>
            </c:strRef>
          </c:tx>
          <c:spPr>
            <a:solidFill>
              <a:srgbClr val="1F5C5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0.98909999999999998</c:v>
                </c:pt>
                <c:pt idx="1">
                  <c:v>0.99529999999999996</c:v>
                </c:pt>
                <c:pt idx="2">
                  <c:v>0.95750000000000002</c:v>
                </c:pt>
                <c:pt idx="3">
                  <c:v>0.95720000000000005</c:v>
                </c:pt>
                <c:pt idx="4">
                  <c:v>0.97189999999999999</c:v>
                </c:pt>
                <c:pt idx="6">
                  <c:v>0.98680000000000001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4-4485-8214-213365A4B0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Track C Style</c:v>
                </c:pt>
              </c:strCache>
            </c:strRef>
          </c:tx>
          <c:spPr>
            <a:solidFill>
              <a:srgbClr val="2C3E6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LR-L2</c:v>
                </c:pt>
                <c:pt idx="1">
                  <c:v>SVM</c:v>
                </c:pt>
                <c:pt idx="2">
                  <c:v>NB-Multi</c:v>
                </c:pt>
                <c:pt idx="3">
                  <c:v>NB-Comp</c:v>
                </c:pt>
                <c:pt idx="4">
                  <c:v>RF</c:v>
                </c:pt>
                <c:pt idx="5">
                  <c:v>XGB</c:v>
                </c:pt>
                <c:pt idx="6">
                  <c:v>LGBM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0.87780000000000002</c:v>
                </c:pt>
                <c:pt idx="4">
                  <c:v>0.91979999999999995</c:v>
                </c:pt>
                <c:pt idx="5">
                  <c:v>0.92190000000000005</c:v>
                </c:pt>
                <c:pt idx="6">
                  <c:v>0.92659999999999998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04-4485-8214-213365A4B0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D0C8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5F0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43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C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654  ·  Texas A&amp;M University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1606" y="766688"/>
            <a:ext cx="8145194" cy="696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chemeClr val="bg1"/>
                </a:solidFill>
              </a:rPr>
              <a:t>Quantifying Dataset Leakage in Fake News Detection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DD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on the ISOT Dataset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3840480" cy="91440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Hareen Sai Vatikuti   ·   Raj Purohith Arjun   ·   Venkateswarlu Nagineni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36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44,898 Articles  ·  Phase 1–4 Results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64008" cy="658368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353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Leakage Detection &amp; Temporal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84248"/>
            <a:ext cx="8503920" cy="65836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64008" cy="658368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Length, Vocabulary, Readability &amp; Sentiment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8503920" cy="65836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64008" cy="658368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8895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8895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Tracks: Leaky Baseline, Decontaminated TF-IDF &amp; Linguistic Style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8503920" cy="65836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64008" cy="658368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657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3657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Training: LR, Naïve Bayes, SVM, Random Forest, LightGBM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288536"/>
            <a:ext cx="8503920" cy="65836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288536"/>
            <a:ext cx="64008" cy="658368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83080" y="4425696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Ensemble, Error Analysis &amp; Final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44,898 Articles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61288"/>
            <a:ext cx="1664208" cy="8229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44,898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1161288"/>
            <a:ext cx="1664208" cy="8229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93392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23,481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3392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1161288"/>
            <a:ext cx="1664208" cy="8229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21,417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0752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1161288"/>
            <a:ext cx="1664208" cy="8229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68112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1.096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68112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05472" y="1161288"/>
            <a:ext cx="1664208" cy="8229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5472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6,252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05472" y="164592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Texts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30552"/>
            <a:ext cx="4206240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167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2496312"/>
            <a:ext cx="4206240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587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2587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headline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2980944"/>
            <a:ext cx="4206240" cy="4572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072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3072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68880" y="3072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content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3465576"/>
            <a:ext cx="4206240" cy="457200"/>
          </a:xfrm>
          <a:prstGeom prst="rect">
            <a:avLst/>
          </a:prstGeom>
          <a:solidFill>
            <a:srgbClr val="FFF5D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557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35570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68880" y="3557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Leaks label perfectly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950208"/>
            <a:ext cx="4206240" cy="4572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041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54480" y="4041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68880" y="4041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fake articles parseable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4434840"/>
            <a:ext cx="4206240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54480" y="4526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(int64)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46888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Fake, 1 = Real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81728" y="2130552"/>
            <a:ext cx="4206240" cy="347472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73168" y="2167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Label Leakage Findings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81728" y="2496312"/>
            <a:ext cx="4206240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73168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column: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2569464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 = 1.000 — perfect predictor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81728" y="2980944"/>
            <a:ext cx="4206240" cy="4572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73168" y="30723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byline: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3054096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of Real articles contain 'reuters'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81728" y="3465576"/>
            <a:ext cx="4206240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73168" y="355701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Single-word acc.: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17920" y="3538728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has_reuters feature → 99.2% accuracy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81728" y="3950208"/>
            <a:ext cx="4206240" cy="4572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73168" y="4041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bias: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217920" y="402336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Fake articles have parseable dates (2015–2017)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81728" y="4434840"/>
            <a:ext cx="4206240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73168" y="4526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217920" y="4507992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raw data detect SOURCE, not linguistic deception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Subject Column: Perfect Label Leakage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4663440" cy="3017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840480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6032" y="4315968"/>
            <a:ext cx="8631936" cy="640080"/>
          </a:xfrm>
          <a:prstGeom prst="rect">
            <a:avLst/>
          </a:prstGeom>
          <a:solidFill>
            <a:srgbClr val="FFF5D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56032" y="4315968"/>
            <a:ext cx="73152" cy="640080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4370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417320" y="43434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categories perfectly separate Fake vs Real (AUC = 1.00). All fake articles fall under 'Government News', 'politics', 'News', etc.; all real articles under 'politicsNews' or 'worldnews'. → Subject must be excluded from all models. Reuters byline similarly excluded.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Temporal Analysis &amp; Duplicate Content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8631936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3913632"/>
            <a:ext cx="2816352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3913632"/>
            <a:ext cx="2816352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33,030 Missing Dates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4279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entries have unparseable or missing publication dates — temporal features excluded from all model tracks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3913632"/>
            <a:ext cx="2816352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3913632"/>
            <a:ext cx="2816352" cy="329184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2015–2017 Only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0" y="4279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 have parseable dates spanning 2015–2017 only. Real articles lack consistent temporal coverage — strong temporal bias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4768" y="3913632"/>
            <a:ext cx="2816352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44768" y="3913632"/>
            <a:ext cx="2816352" cy="329184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36208" y="3941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6,252 Duplicate Texts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36208" y="4279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6,252 duplicate body texts and 6,169 duplicate titles identified. 6,852 near-duplicates via shared prefix — reduces effective diversity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Feature Engineering &amp; Hypothesis Testing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150876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" y="1243584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64792" y="1188720"/>
            <a:ext cx="109728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19656" y="124358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Median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1188720"/>
            <a:ext cx="109728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16936" y="124358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Median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59352" y="1188720"/>
            <a:ext cx="109728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14216" y="124358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p-value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56632" y="1188720"/>
            <a:ext cx="100584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11496" y="1243584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(rb)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2472" y="1188720"/>
            <a:ext cx="132588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17336" y="1243584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2161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threshold: p &lt; 0.0083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1572768"/>
            <a:ext cx="150876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" y="162763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64792" y="157276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19656" y="16276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62072" y="157276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16936" y="16276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59352" y="157276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14216" y="16276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3.29e-13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56632" y="1572768"/>
            <a:ext cx="100584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11496" y="162763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2472" y="1572768"/>
            <a:ext cx="13258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17336" y="162763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1938528"/>
            <a:ext cx="150876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896" y="199339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64792" y="193852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19656" y="199339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4.946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62072" y="193852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16936" y="199339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959352" y="193852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14216" y="199339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0.00e+00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56632" y="1938528"/>
            <a:ext cx="100584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11496" y="199339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62472" y="1938528"/>
            <a:ext cx="13258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17336" y="199339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2304288"/>
            <a:ext cx="150876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0896" y="23591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type_token_ratio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64792" y="230428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19656" y="2359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862072" y="230428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916936" y="2359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0.607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959352" y="230428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14216" y="2359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1.31e-145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56632" y="2304288"/>
            <a:ext cx="100584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11496" y="23591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62472" y="2304288"/>
            <a:ext cx="13258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17336" y="235915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56032" y="2670048"/>
            <a:ext cx="150876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10896" y="272491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title_words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764792" y="2670048"/>
            <a:ext cx="109728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819656" y="272491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862072" y="2670048"/>
            <a:ext cx="109728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916936" y="272491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959352" y="2670048"/>
            <a:ext cx="109728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014216" y="272491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0.00e+00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56632" y="2670048"/>
            <a:ext cx="100584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111496" y="272491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−0.747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062472" y="2670048"/>
            <a:ext cx="1325880" cy="347472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17336" y="272491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(largest)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50876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10896" y="309067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char_count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764792" y="303580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819656" y="30906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2166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862072" y="303580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916936" y="30906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959352" y="3035808"/>
            <a:ext cx="10972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14216" y="30906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2.14e-02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056632" y="3035808"/>
            <a:ext cx="100584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111496" y="309067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062472" y="3035808"/>
            <a:ext cx="1325880" cy="3474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117336" y="309067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56032" y="3401568"/>
            <a:ext cx="150876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10896" y="345643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unique_words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764792" y="340156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819656" y="34564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862072" y="340156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916936" y="34564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3959352" y="3401568"/>
            <a:ext cx="10972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014216" y="345643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1.57e-07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056632" y="3401568"/>
            <a:ext cx="100584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111496" y="345643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−0.029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062472" y="3401568"/>
            <a:ext cx="1325880" cy="34747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117336" y="3456432"/>
            <a:ext cx="1216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256032" y="3913632"/>
            <a:ext cx="2103120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56032" y="3913632"/>
            <a:ext cx="2103120" cy="329184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47472" y="3941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 Ease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347472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 (Fake) vs 42.8 (Real)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347472" y="4572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easier to read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441448" y="3913632"/>
            <a:ext cx="2103120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441448" y="3913632"/>
            <a:ext cx="2103120" cy="329184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532888" y="3941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Grade</a:t>
            </a:r>
            <a:endParaRPr lang="en-US" sz="1150" dirty="0"/>
          </a:p>
        </p:txBody>
      </p:sp>
      <p:sp>
        <p:nvSpPr>
          <p:cNvPr id="97" name="Text 95"/>
          <p:cNvSpPr/>
          <p:nvPr/>
        </p:nvSpPr>
        <p:spPr>
          <a:xfrm>
            <a:off x="2532888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 vs 12.7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2532888" y="4572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uses higher grade level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626864" y="3913632"/>
            <a:ext cx="2103120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626864" y="3913632"/>
            <a:ext cx="2103120" cy="329184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718304" y="3941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4718304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−0.19 vs +0.26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4718304" y="4572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= more negative sentiment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812280" y="3913632"/>
            <a:ext cx="2103120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812280" y="3913632"/>
            <a:ext cx="2103120" cy="329184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903720" y="3941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Density</a:t>
            </a:r>
            <a:endParaRPr lang="en-US" sz="1150" dirty="0"/>
          </a:p>
        </p:txBody>
      </p:sp>
      <p:sp>
        <p:nvSpPr>
          <p:cNvPr id="107" name="Text 105"/>
          <p:cNvSpPr/>
          <p:nvPr/>
        </p:nvSpPr>
        <p:spPr>
          <a:xfrm>
            <a:off x="690372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≈ 0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6903720" y="4572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difference at p≈0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Word Count &amp; Sentiment Distributions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4297680" cy="28346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224528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6032" y="4133088"/>
            <a:ext cx="4261104" cy="8046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56032" y="4133088"/>
            <a:ext cx="73152" cy="8046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02336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02336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medians (Fake: 363, Real: 359) but Real shows higher variance — bimodal distribution with more long-form content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00016" y="4133088"/>
            <a:ext cx="4261104" cy="8046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00016" y="4133088"/>
            <a:ext cx="73152" cy="804672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4632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stronger negative peak at −1.0, median −0.19. Real: dominant positive peak at +0.9, median +0.26. Both bimodal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Vocabulary Differences: Word Clouds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8631936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005072"/>
            <a:ext cx="2816352" cy="93268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4005072"/>
            <a:ext cx="2816352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4032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Vocabulary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436168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'said', 'Trump', 'one', 'people'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'image via', 'pic', 'twitter' — web scraping artifacts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Opinion/emotional framing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4005072"/>
            <a:ext cx="2816352" cy="93268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4005072"/>
            <a:ext cx="2816352" cy="310896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4032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Vocabulary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0" y="436168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Dominant: 'said', 'government', 'Trump', 'White House'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'Reuters', 'Wednesday', 'United State' — formal reporting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Time/place references: structured journalism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4768" y="4005072"/>
            <a:ext cx="2816352" cy="93268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44768" y="4005072"/>
            <a:ext cx="2816352" cy="310896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36208" y="4032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36208" y="436168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news: day-of-week markers, official titles, datelines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news: social media artifacts, informal language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Vocabulary alone highly discriminative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Feature Correlation Matrix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512064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188720"/>
            <a:ext cx="331012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0" y="122529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554480"/>
            <a:ext cx="3310128" cy="5303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1591056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 ↔ char_count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0" y="181051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1.00 — perfectly collinear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needed in any model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121408"/>
            <a:ext cx="3310128" cy="5303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0" y="2157984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flesch_ease ↔ fk_grade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0" y="2377440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−0.79 — expected inverse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alone is sufficient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688336"/>
            <a:ext cx="3310128" cy="5303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2724912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title_words → label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0" y="294436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−0.58 — strongest predictor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Track C features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255264"/>
            <a:ext cx="3310128" cy="5303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69280" y="3291840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 → label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0" y="351129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+0.23 — real news uses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more complex words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822192"/>
            <a:ext cx="3310128" cy="5303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69280" y="3858768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vader_compound ↔ vader_neg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0" y="4078224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−0.66 — expected structural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in VADER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4389120"/>
            <a:ext cx="3310128" cy="5303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69280" y="4425696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vader_pos → label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669280" y="464515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−0.09 — weak; polarity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than positivity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Three Feature Tracks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61288"/>
            <a:ext cx="8613648" cy="12618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65836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252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Raw TF-IDF (Leaky Baseline)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2527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50,000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81912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'reuters', source bylines, scraped artifacts.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trained here detects SOURCE identity,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linguistic deception patterns.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63677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7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LEAKY — for comparison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96312"/>
            <a:ext cx="8613648" cy="12618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660904"/>
            <a:ext cx="658368" cy="658368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75234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992" y="2587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Decontaminated TF-IDF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5877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50,000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916936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+ source fingerprints removed.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articles still contain 'reuters' after cleaning.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reduction → 300 SVD components (15.9% variance).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content-based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31336"/>
            <a:ext cx="8613648" cy="126187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995928"/>
            <a:ext cx="658368" cy="65836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08736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78992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— Linguistic Style (14 features)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922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× 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25196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word_count, type_token_ratio, flesch_ease, fk_grade,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smog, vader_compound/pos/neg, excl_density,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avg_word_len, sent_count, title_words, caps_ratio, quest_density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430682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Interpretable, source-agnostic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Step 3.4: Dimensionality Reduction with LSA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417880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16152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Reduce Dimensions?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600200"/>
            <a:ext cx="417880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600200"/>
            <a:ext cx="1005840" cy="10058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737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2221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features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70992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are extremely slow on sparse matrices this large. Logistic Regression and SVM handle 50k directly, but ensemble methods need reduction.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679192"/>
            <a:ext cx="417880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679192"/>
            <a:ext cx="1005840" cy="10058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28163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" y="33009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components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78892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(LSA) compresses 50,000 sparse TF-IDF features into 300 dense semantic dimensions — 15.9% of variance retained.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758184"/>
            <a:ext cx="417880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758184"/>
            <a:ext cx="1005840" cy="10058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38953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~167×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" y="43799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867912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Random Forest and LightGBM tractable on Track B. The reduced representation captures latent topics across co-occurring terms.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188720"/>
            <a:ext cx="4270248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1216152"/>
            <a:ext cx="4087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Truncated SVD, Not PCA?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600200"/>
            <a:ext cx="427024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1600200"/>
            <a:ext cx="54864" cy="10058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166420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PCA limitation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7448" y="1929384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computing a dense covariance matrix (50,000 × 50,000 = 2.5B entries). For TF-IDF this would require enormous memory — computationally infeasible.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679192"/>
            <a:ext cx="427024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2679192"/>
            <a:ext cx="54864" cy="10058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7448" y="27432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advantage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300837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on the sparse TF-IDF matrix without materialising the dense covariance. Decomposes: X ≈ U · Σ · Vᵀ, keeping only top-300 singular values.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4270248" cy="10058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3758184"/>
            <a:ext cx="54864" cy="10058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7448" y="382219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semantics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27448" y="40873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300-dimensional space captures latent semantic relationships — words that appear in similar contexts are close together, even without direct co-occurrence.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7472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B-LSA: 44,898 articles × 300 SVD components  ·  Used for: Random Forest &amp; LightGBM  ·  Variance retained: 15.9%  ·  Tracks A &amp; B full-dim used for LR &amp; SVM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Text Preprocessing &amp; Decontamination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61288"/>
            <a:ext cx="1627632" cy="19202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61288"/>
            <a:ext cx="1627632" cy="4114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" y="11978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444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converted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lowercase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casing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38528" y="18928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161288"/>
            <a:ext cx="1627632" cy="19202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161288"/>
            <a:ext cx="1627632" cy="4114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5740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14016" y="11978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627632"/>
            <a:ext cx="1444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tokens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stripped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chars removed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75888" y="18928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161288"/>
            <a:ext cx="1627632" cy="19202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1161288"/>
            <a:ext cx="1627632" cy="4114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9476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51376" y="11978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1627632"/>
            <a:ext cx="1444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words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(NLTK stopwords)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13248" y="18928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1161288"/>
            <a:ext cx="1627632" cy="19202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1161288"/>
            <a:ext cx="1627632" cy="4114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3212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88736" y="11978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1627632"/>
            <a:ext cx="1444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Lemmatiser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root forms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0608" y="1892808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23760" y="1161288"/>
            <a:ext cx="1627632" cy="1920240"/>
          </a:xfrm>
          <a:prstGeom prst="rect">
            <a:avLst/>
          </a:prstGeom>
          <a:solidFill>
            <a:srgbClr val="FFF5D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1161288"/>
            <a:ext cx="1627632" cy="411480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6948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6096" y="11978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Decontam.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627632"/>
            <a:ext cx="14447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'Reuters'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bylines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artifacts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Pub. signatures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3218688"/>
            <a:ext cx="8613648" cy="347472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2552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Details — What was removed and why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602736"/>
            <a:ext cx="4206240" cy="43891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3602736"/>
            <a:ext cx="54864" cy="43891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6393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byline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20240" y="36484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of real articles → direct source ID, not linguistic content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3602736"/>
            <a:ext cx="4206240" cy="43891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17720" y="3602736"/>
            <a:ext cx="54864" cy="43891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45736" y="36393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signatures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36484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Author/outlet names uniquely identify real vs fake source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105656"/>
            <a:ext cx="4206240" cy="43891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105656"/>
            <a:ext cx="54864" cy="43891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2336" y="41422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tokens (https, pic, flickr)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920240" y="4151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artifacts in fake articles — not natural language signal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4105656"/>
            <a:ext cx="4206240" cy="43891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17720" y="4105656"/>
            <a:ext cx="54864" cy="43891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45736" y="41422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21wire, govtslaves domains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263640" y="4151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fake-news domain tokens that identify source not style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64608"/>
            <a:ext cx="8613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articles contain 'reuters' after decontamination  ·  Models must learn linguistic patterns, not source identity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Model Selection &amp; Design Choices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4224528" cy="141732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4224528" cy="329184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2618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2618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A, B, 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straight-line decision boundary — each coefficient maps directly to a word/phrase. Most interpretable text classifier. L2 (Ridge): shrinks all coefficients, keeps all features active, stable with correlated terms. L1 (Lasso): drives unimportant features to zero — automatic vocabulary selection. Elastic Net: blend of L1+L2 for correlated TF-IDF features.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224528" cy="141732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224528" cy="329184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618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261872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 (Multinomial + Complement)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70648" y="12618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73168" y="1591056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word independence given class — wrong in practice, but effective for text. MultinomialNB requires non-negative inputs (MinMaxScaler applied to 10,000-feature subset). ComplementNB models the opposite class for each prediction, which often outperforms standard MNB on near-balanced datasets like ISOT.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715768"/>
            <a:ext cx="4224528" cy="141732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715768"/>
            <a:ext cx="4224528" cy="329184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7706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2770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decision boundary maximising the margin between nearest fake/real articles. Maximum-margin property often gives better generalisation than LR. Linear kernel is best for high-dim TF-IDF — data is likely already linearly separable. Platt scaling (CalibratedClassifierCV) converts hard predictions to probabilities for ROC-AUC.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715768"/>
            <a:ext cx="4224528" cy="141732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224528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7706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3248" y="2770632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70648" y="2770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B-LSA, 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3099816"/>
            <a:ext cx="4005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decision trees on random data/feature subsets; majority vote for final prediction. Too slow on 50,000 TF-IDF features — run on LSA-reduced Track B (300 features) and Track C (14 features). Track C comparison is most informative: can non-linear style patterns beat linear LR on interpretable features?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224528"/>
            <a:ext cx="8631936" cy="73152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4224528"/>
            <a:ext cx="8631936" cy="329184"/>
          </a:xfrm>
          <a:prstGeom prst="rect">
            <a:avLst/>
          </a:prstGeom>
          <a:solidFill>
            <a:srgbClr val="5B2333"/>
          </a:solidFill>
          <a:ln w="12700">
            <a:solidFill>
              <a:srgbClr val="5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42793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279392"/>
            <a:ext cx="7443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70648" y="42793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B-LSA, 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6085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growing trees leaf-by-leaf rather than level-by-level — faster and more accurate than XGBoost on many tasks. At each step, focuses on training examples with the biggest current errors. 300 estimators, learning rate 0.05. Applied to LSA-reduced Track B and Track C style features.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Model Results Summary (5-Fold CV)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61288"/>
            <a:ext cx="150876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" y="1216152"/>
            <a:ext cx="1399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64792" y="1161288"/>
            <a:ext cx="118872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19656" y="121615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53512" y="1161288"/>
            <a:ext cx="82296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08376" y="1216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76472" y="1161288"/>
            <a:ext cx="84124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31336" y="1216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61288"/>
            <a:ext cx="96012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1216152"/>
            <a:ext cx="850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161288"/>
            <a:ext cx="84124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32704" y="1216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19088" y="1161288"/>
            <a:ext cx="987552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21615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545336"/>
            <a:ext cx="1508760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" y="16002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64792" y="1545336"/>
            <a:ext cx="1188720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16002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(Leaky)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53512" y="1545336"/>
            <a:ext cx="822960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99232" y="1600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76472" y="1545336"/>
            <a:ext cx="841248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22192" y="16002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545336"/>
            <a:ext cx="960120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6002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1545336"/>
            <a:ext cx="841248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23560" y="16002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19088" y="1545336"/>
            <a:ext cx="987552" cy="301752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64808" y="160020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1865376"/>
            <a:ext cx="15087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1752" y="19202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64792" y="1865376"/>
            <a:ext cx="11887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10512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(Clean)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53512" y="1865376"/>
            <a:ext cx="8229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99232" y="19202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76472" y="186537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22192" y="19202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1865376"/>
            <a:ext cx="9601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19202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186537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23560" y="19202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19088" y="1865376"/>
            <a:ext cx="987552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64808" y="19202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" y="2185416"/>
            <a:ext cx="15087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01752" y="224028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64792" y="2185416"/>
            <a:ext cx="11887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10512" y="2240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(Style)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53512" y="2185416"/>
            <a:ext cx="8229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999232" y="22402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76472" y="218541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22192" y="224028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17720" y="2185416"/>
            <a:ext cx="9601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63440" y="224028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577840" y="218541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623560" y="224028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0.9059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19088" y="2185416"/>
            <a:ext cx="987552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64808" y="224028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6032" y="2505456"/>
            <a:ext cx="15087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01752" y="25603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764792" y="2505456"/>
            <a:ext cx="11887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810512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(Clean)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953512" y="2505456"/>
            <a:ext cx="8229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999232" y="2560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76472" y="250545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822192" y="25603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617720" y="2505456"/>
            <a:ext cx="9601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63440" y="25603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577840" y="250545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623560" y="25603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0.9579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19088" y="2505456"/>
            <a:ext cx="987552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464808" y="25603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0.0042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56032" y="2825496"/>
            <a:ext cx="15087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01752" y="288036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NB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64792" y="2825496"/>
            <a:ext cx="11887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810512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(Clean)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953512" y="2825496"/>
            <a:ext cx="8229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999232" y="28803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0.9572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776472" y="282549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822192" y="2880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617720" y="2825496"/>
            <a:ext cx="9601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63440" y="28803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577840" y="282549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623560" y="2880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0.9592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419088" y="2825496"/>
            <a:ext cx="987552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464808" y="28803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0.0046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56032" y="3145536"/>
            <a:ext cx="1508760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01752" y="32004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764792" y="3145536"/>
            <a:ext cx="1188720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810512" y="32004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(Clean)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953512" y="3145536"/>
            <a:ext cx="822960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999232" y="32004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0.9953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776472" y="3145536"/>
            <a:ext cx="841248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822192" y="32004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617720" y="3145536"/>
            <a:ext cx="960120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663440" y="32004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0.9956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5577840" y="3145536"/>
            <a:ext cx="841248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623560" y="32004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419088" y="3145536"/>
            <a:ext cx="987552" cy="301752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464808" y="320040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0.0047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256032" y="3465576"/>
            <a:ext cx="15087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301752" y="35204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764792" y="3465576"/>
            <a:ext cx="11887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810512" y="3520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(Style)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953512" y="3465576"/>
            <a:ext cx="8229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999232" y="3520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0.9198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3776472" y="346557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822192" y="35204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0.9755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4617720" y="3465576"/>
            <a:ext cx="9601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663440" y="35204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0.9119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5577840" y="346557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623560" y="352044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0.9279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419088" y="3465576"/>
            <a:ext cx="987552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6464808" y="35204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0.0587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256032" y="3785616"/>
            <a:ext cx="15087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301752" y="384048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764792" y="3785616"/>
            <a:ext cx="11887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1810512" y="3840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B-LSA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2953512" y="3785616"/>
            <a:ext cx="8229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2999232" y="3840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0.9719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3776472" y="378561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822192" y="384048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0.9962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617720" y="3785616"/>
            <a:ext cx="9601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663440" y="384048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0.9730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5577840" y="378561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623560" y="384048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0.9709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6419088" y="3785616"/>
            <a:ext cx="987552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464808" y="384048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0.0275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256032" y="4105656"/>
            <a:ext cx="15087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01752" y="41605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764792" y="4105656"/>
            <a:ext cx="11887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1810512" y="4160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(Style)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2953512" y="4105656"/>
            <a:ext cx="8229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999232" y="41605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0.9219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776472" y="410565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822192" y="41605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0.9774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4617720" y="4105656"/>
            <a:ext cx="9601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663440" y="41605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0.9051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5577840" y="410565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5623560" y="416052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0.9393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6419088" y="4105656"/>
            <a:ext cx="987552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6464808" y="416052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0.0202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256032" y="4425696"/>
            <a:ext cx="15087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301752" y="448056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1764792" y="4425696"/>
            <a:ext cx="11887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1810512" y="4480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B-LSA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2953512" y="4425696"/>
            <a:ext cx="82296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2999232" y="44805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0.9868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3776472" y="442569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3822192" y="44805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0.9989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4617720" y="4425696"/>
            <a:ext cx="960120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663440" y="44805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0.9885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5577840" y="4425696"/>
            <a:ext cx="841248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5623560" y="44805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0.9851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6419088" y="4425696"/>
            <a:ext cx="987552" cy="301752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6464808" y="44805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0.0132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256032" y="4745736"/>
            <a:ext cx="15087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301752" y="48006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1764792" y="4745736"/>
            <a:ext cx="11887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1810512" y="4800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(Style)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2953512" y="4745736"/>
            <a:ext cx="82296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161"/>
          <p:cNvSpPr/>
          <p:nvPr/>
        </p:nvSpPr>
        <p:spPr>
          <a:xfrm>
            <a:off x="2999232" y="4800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0.9266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3776472" y="474573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3822192" y="48006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0.9796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4617720" y="4745736"/>
            <a:ext cx="960120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4663440" y="48006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0.9121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5577840" y="4745736"/>
            <a:ext cx="841248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5623560" y="48006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0.9417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6419088" y="4745736"/>
            <a:ext cx="987552" cy="3017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6464808" y="480060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0.0345</a:t>
            </a:r>
            <a:endParaRPr lang="en-US" sz="1000" dirty="0"/>
          </a:p>
        </p:txBody>
      </p:sp>
      <p:sp>
        <p:nvSpPr>
          <p:cNvPr id="172" name="Text 170"/>
          <p:cNvSpPr/>
          <p:nvPr/>
        </p:nvSpPr>
        <p:spPr>
          <a:xfrm>
            <a:off x="256032" y="4956048"/>
            <a:ext cx="8613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clean model: SVM on Track B (F1 = 0.9953, AUC = 0.9997)  ·  Track A inflated by source fingerprints  ·  Track C is most interpretable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F1 Score Comparison Across Models &amp; Tracks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61288"/>
          <a:ext cx="8631936" cy="3776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Step 5.1: Why Accuracy Alone Is Not Enough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8631936" cy="566928"/>
          </a:xfrm>
          <a:prstGeom prst="rect">
            <a:avLst/>
          </a:prstGeom>
          <a:solidFill>
            <a:srgbClr val="FFF5D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64008" cy="566928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counts the fraction of correct predictions. On near-balanced data it is a reasonable starting point, but it treats all errors as equally bad — and in fake news detection, these two errors have very different real-world consequences.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901952"/>
            <a:ext cx="4242816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901952"/>
            <a:ext cx="4242816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— Real flagged as Fake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4041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journalism suppressed. Real reporting from minor or non-Reuters outlets may match fake-news surface patterns. Risk: censorship of minority perspectives or unusual-format real news.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1901952"/>
            <a:ext cx="4242816" cy="102412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81728" y="1901952"/>
            <a:ext cx="4242816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48656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Fake slips through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2304288"/>
            <a:ext cx="4041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reaches the audience unchecked. Professionally-written fake content mimicking real journalistic structure is most dangerous. Risk: public harm from unchecked disinformation.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035808"/>
            <a:ext cx="8631936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" y="30632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92224" y="3063240"/>
            <a:ext cx="2852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3063240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Interpretation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146304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" y="345643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19072" y="3401568"/>
            <a:ext cx="292608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92224" y="3456432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articles flagged as fake, what fraction truly are fake?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45152" y="3401568"/>
            <a:ext cx="4242816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18304" y="3456432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false accusations against real journalism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730752"/>
            <a:ext cx="1463040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" y="3785616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19072" y="3730752"/>
            <a:ext cx="2926080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92224" y="3785616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fake articles, what fraction did the model catch?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5152" y="3730752"/>
            <a:ext cx="4242816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18304" y="3785616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many fake articles slip through undetected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059936"/>
            <a:ext cx="146304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" y="41148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19072" y="4059936"/>
            <a:ext cx="292608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792224" y="411480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45152" y="4059936"/>
            <a:ext cx="4242816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18304" y="4114800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single-number comparison metric across models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4389120"/>
            <a:ext cx="1463040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9184" y="4443984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19072" y="4389120"/>
            <a:ext cx="2926080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92224" y="4443984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model ranks a random fake above a random real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45152" y="4389120"/>
            <a:ext cx="4242816" cy="310896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18304" y="4443984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— threshold-independent comparison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718304"/>
            <a:ext cx="146304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9184" y="4773168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19072" y="4718304"/>
            <a:ext cx="2926080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92224" y="4773168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Precision-Recall curve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45152" y="4718304"/>
            <a:ext cx="4242816" cy="31089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18304" y="4773168"/>
            <a:ext cx="4133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than ROC when classes are slightly imbalanced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Step 5.2: Final Hold-Out Evaluation (20% Test Set)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422452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  ·  Track B (Decontaminated)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1188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59105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44752" y="1572768"/>
            <a:ext cx="749808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81328" y="1591056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572768"/>
            <a:ext cx="658368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31136" y="1591056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2928" y="1572768"/>
            <a:ext cx="566928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9504" y="159105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19856" y="1572768"/>
            <a:ext cx="1042416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6432" y="159105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65376"/>
            <a:ext cx="118872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191109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44752" y="1865376"/>
            <a:ext cx="749808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81328" y="1911096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1865376"/>
            <a:ext cx="658368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31136" y="19110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52928" y="1865376"/>
            <a:ext cx="566928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9504" y="191109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9856" y="1865376"/>
            <a:ext cx="1042416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191109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4,696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157984"/>
            <a:ext cx="1188720" cy="274320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" y="22037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44752" y="2157984"/>
            <a:ext cx="749808" cy="274320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81328" y="220370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157984"/>
            <a:ext cx="658368" cy="274320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31136" y="220370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52928" y="2157984"/>
            <a:ext cx="566928" cy="274320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89504" y="22037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9856" y="2157984"/>
            <a:ext cx="1042416" cy="274320"/>
          </a:xfrm>
          <a:prstGeom prst="rect">
            <a:avLst/>
          </a:prstGeom>
          <a:solidFill>
            <a:srgbClr val="F0FA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56432" y="2203704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2450592"/>
            <a:ext cx="1188720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" y="249631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44752" y="2450592"/>
            <a:ext cx="74980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81328" y="2496312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94560" y="2450592"/>
            <a:ext cx="65836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31136" y="249631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52928" y="2450592"/>
            <a:ext cx="56692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889504" y="249631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19856" y="2450592"/>
            <a:ext cx="1042416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56432" y="249631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" y="2743200"/>
            <a:ext cx="1188720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" y="2788920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444752" y="2743200"/>
            <a:ext cx="74980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81328" y="278892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94560" y="2743200"/>
            <a:ext cx="65836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231136" y="278892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52928" y="2743200"/>
            <a:ext cx="56692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889504" y="2788920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19856" y="2743200"/>
            <a:ext cx="1042416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56432" y="278892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6032" y="3072384"/>
            <a:ext cx="4224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" y="3319272"/>
            <a:ext cx="138988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92608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664208" y="3319272"/>
            <a:ext cx="138988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700784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Fake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072384" y="3319272"/>
            <a:ext cx="138988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108960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Real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56032" y="3703320"/>
            <a:ext cx="138988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2608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Fake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664208" y="3703320"/>
            <a:ext cx="1389888" cy="365760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700784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4,634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72384" y="3703320"/>
            <a:ext cx="1389888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108960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56032" y="4087368"/>
            <a:ext cx="1389888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92608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664208" y="4087368"/>
            <a:ext cx="1389888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700784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072384" y="4087368"/>
            <a:ext cx="1389888" cy="365760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108960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56032" y="4480560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0.9992  ·  PR-AUC: 0.9991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663440" y="1207008"/>
            <a:ext cx="4224528" cy="347472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754880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(Linear)  ·  Track B (Decontaminated)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663440" y="1572768"/>
            <a:ext cx="1188720" cy="274320"/>
          </a:xfrm>
          <a:prstGeom prst="rect">
            <a:avLst/>
          </a:prstGeom>
          <a:solidFill>
            <a:srgbClr val="1F5C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00016" y="159105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852160" y="1572768"/>
            <a:ext cx="749808" cy="274320"/>
          </a:xfrm>
          <a:prstGeom prst="rect">
            <a:avLst/>
          </a:prstGeom>
          <a:solidFill>
            <a:srgbClr val="1F5C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888736" y="1591056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601968" y="1572768"/>
            <a:ext cx="658368" cy="274320"/>
          </a:xfrm>
          <a:prstGeom prst="rect">
            <a:avLst/>
          </a:prstGeom>
          <a:solidFill>
            <a:srgbClr val="1F5C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638544" y="1591056"/>
            <a:ext cx="603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260336" y="1572768"/>
            <a:ext cx="566928" cy="274320"/>
          </a:xfrm>
          <a:prstGeom prst="rect">
            <a:avLst/>
          </a:prstGeom>
          <a:solidFill>
            <a:srgbClr val="1F5C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296912" y="159105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827264" y="1572768"/>
            <a:ext cx="1042416" cy="274320"/>
          </a:xfrm>
          <a:prstGeom prst="rect">
            <a:avLst/>
          </a:prstGeom>
          <a:solidFill>
            <a:srgbClr val="1F5C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863840" y="159105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1865376"/>
            <a:ext cx="118872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700016" y="191109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852160" y="1865376"/>
            <a:ext cx="74980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888736" y="1911096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601968" y="1865376"/>
            <a:ext cx="65836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638544" y="19110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260336" y="1865376"/>
            <a:ext cx="56692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296912" y="1911096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827264" y="1865376"/>
            <a:ext cx="1042416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863840" y="1911096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4,696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663440" y="2157984"/>
            <a:ext cx="118872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700016" y="2203704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852160" y="2157984"/>
            <a:ext cx="74980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888736" y="220370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601968" y="2157984"/>
            <a:ext cx="65836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638544" y="220370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260336" y="2157984"/>
            <a:ext cx="566928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296912" y="22037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827264" y="2157984"/>
            <a:ext cx="1042416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863840" y="2203704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4,284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663440" y="2450592"/>
            <a:ext cx="1188720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700016" y="2496312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852160" y="2450592"/>
            <a:ext cx="74980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5888736" y="2496312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601968" y="2450592"/>
            <a:ext cx="65836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638544" y="249631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260336" y="2450592"/>
            <a:ext cx="56692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7296912" y="249631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7827264" y="2450592"/>
            <a:ext cx="1042416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7863840" y="249631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8,980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663440" y="2743200"/>
            <a:ext cx="1188720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700016" y="2788920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852160" y="2743200"/>
            <a:ext cx="74980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5888736" y="278892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6601968" y="2743200"/>
            <a:ext cx="65836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6638544" y="278892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260336" y="2743200"/>
            <a:ext cx="566928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7296912" y="2788920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7827264" y="2743200"/>
            <a:ext cx="1042416" cy="27432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7863840" y="2788920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8,980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4663440" y="3072384"/>
            <a:ext cx="4224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4663440" y="3319272"/>
            <a:ext cx="1389888" cy="365760"/>
          </a:xfrm>
          <a:prstGeom prst="rect">
            <a:avLst/>
          </a:prstGeom>
          <a:solidFill>
            <a:srgbClr val="1F5C5C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4700016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071616" y="3319272"/>
            <a:ext cx="1389888" cy="365760"/>
          </a:xfrm>
          <a:prstGeom prst="rect">
            <a:avLst/>
          </a:prstGeom>
          <a:solidFill>
            <a:srgbClr val="1F5C5C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6108192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Fake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7479792" y="3319272"/>
            <a:ext cx="1389888" cy="365760"/>
          </a:xfrm>
          <a:prstGeom prst="rect">
            <a:avLst/>
          </a:prstGeom>
          <a:solidFill>
            <a:srgbClr val="1F5C5C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7516368" y="33924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Real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4663440" y="3703320"/>
            <a:ext cx="1389888" cy="365760"/>
          </a:xfrm>
          <a:prstGeom prst="rect">
            <a:avLst/>
          </a:prstGeom>
          <a:solidFill>
            <a:srgbClr val="1F5C5C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4700016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Fake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6071616" y="3703320"/>
            <a:ext cx="1389888" cy="365760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6108192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4,680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7479792" y="3703320"/>
            <a:ext cx="1389888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7516368" y="3776472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663440" y="4087368"/>
            <a:ext cx="1389888" cy="365760"/>
          </a:xfrm>
          <a:prstGeom prst="rect">
            <a:avLst/>
          </a:prstGeom>
          <a:solidFill>
            <a:srgbClr val="1F5C5C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700016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071616" y="4087368"/>
            <a:ext cx="1389888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108192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7479792" y="4087368"/>
            <a:ext cx="1389888" cy="365760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516368" y="416052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4,259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4663440" y="4480560"/>
            <a:ext cx="4224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0.9998  ·  PR-AUC: 0.9998  ★ Best model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Step 5.3–5.4: Statistical Test &amp; Calibration Curves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422452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— LR-L2 vs SVM (Track B)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627632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evaluates whether two classifiers make systematically different errors on the same test set — not just which has a higher F1, but whether the difference is statistically real.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2212848"/>
            <a:ext cx="1389888" cy="384048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2304288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4208" y="2212848"/>
            <a:ext cx="1389888" cy="384048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00784" y="2304288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Correct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72384" y="2212848"/>
            <a:ext cx="1389888" cy="384048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2304288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Wrong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15184"/>
            <a:ext cx="1389888" cy="384048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7066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Correct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2615184"/>
            <a:ext cx="1389888" cy="384048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00784" y="27066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8,877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2615184"/>
            <a:ext cx="1389888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0" y="2706624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017520"/>
            <a:ext cx="1389888" cy="384048"/>
          </a:xfrm>
          <a:prstGeom prst="rect">
            <a:avLst/>
          </a:prstGeom>
          <a:solidFill>
            <a:srgbClr val="6B0000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310896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Wrong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64208" y="3017520"/>
            <a:ext cx="1389888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00784" y="310896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72384" y="3017520"/>
            <a:ext cx="1389888" cy="384048"/>
          </a:xfrm>
          <a:prstGeom prst="rect">
            <a:avLst/>
          </a:prstGeom>
          <a:solidFill>
            <a:srgbClr val="EAF5EA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0" y="3108960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438144"/>
            <a:ext cx="4224528" cy="475488"/>
          </a:xfrm>
          <a:prstGeom prst="rect">
            <a:avLst/>
          </a:prstGeom>
          <a:solidFill>
            <a:srgbClr val="EAF5EA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493008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2.26e-16  →  SIGNIFICANT (p &lt; 0.05)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" y="3968496"/>
            <a:ext cx="4224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makes systematically fewer errors than LR — the performance difference is genuine, not due to random chance in the test split.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443984"/>
            <a:ext cx="4224528" cy="4572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4443984"/>
            <a:ext cx="64008" cy="4572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4988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(LR):  39 FP — real flagged as fake (short/unusual format)  ·  62 FN — formal-looking fake that slipped through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207008"/>
            <a:ext cx="4224528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5.4 — Calibration Curves (Reliability Diagrams)</a:t>
            </a:r>
            <a:endParaRPr lang="en-US" sz="11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72768"/>
            <a:ext cx="4224528" cy="28346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663440" y="4480560"/>
            <a:ext cx="4224528" cy="21945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63440" y="4480560"/>
            <a:ext cx="54864" cy="219456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54880" y="4517136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LR-L2 (blue): Generally well-calibrated — predicted probabilities track observed frequencies closely.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63440" y="4718304"/>
            <a:ext cx="4224528" cy="21945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4718304"/>
            <a:ext cx="5486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754880" y="4754880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SVM-Platt (orange): More erratic — Platt scaling partially corrects, but SVM probabilities are less reliable. Use LR when calibrated scores matter.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Step 5.4: Error Analysis — LR-L2 (Track 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8631936" cy="420624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61872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metrics tell us HOW OFTEN the model fails. Error analysis tells us WHY — enabling targeted improvements.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700784"/>
            <a:ext cx="422452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728216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False Positives — Real Flagged as Fake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2075688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211226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[politics]      FOX NEWS LEGAL ANALYST: Comey's Big Lie…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2313432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" y="23500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[worldnews]  Russia's Lavrov says hopes Syrian congress…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551176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" y="25877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[News]           Someone Tried To Cash In On Antifa…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788920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" y="28254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[worldnews]  Singapore man arrested for 'terrorism-related'…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26664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" y="306324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[politicsNews] White House names Hicks interim comms dir.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3264408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330098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[worldnews]  Malaysia's royals call for religious tolerance…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502152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" y="353872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[worldnews]  Woman's murder prompts mass eviction of Syrians…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739896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896" y="37764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[News]           Martin O'Malley Suspends Campaign (TWEET)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986784"/>
            <a:ext cx="4224528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3986784"/>
            <a:ext cx="54864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0325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count: mean 378 · median 377 · min 23 · max 932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4370832"/>
            <a:ext cx="4224528" cy="5303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4370832"/>
            <a:ext cx="54864" cy="53035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40740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Sensational headlines (ALL CAPS, brackets like [Video], [TWEET]) and non-Reuters worldnews articles — model biased against informal-headline real news.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700784"/>
            <a:ext cx="4224528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728216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 False Negatives — Fake Slipped Through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075688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211226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[politicsNews] Hillary Clinton makes surprise appearance…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313432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18304" y="23500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[politics]      MEGHAN MCCAIN Cut-Off After Saying…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551176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18304" y="25877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[politicsNews] Facebook's political influence under a microscope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788920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18304" y="282549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[News]           George Clooney HAMMERS Trump For Insulting…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026664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18304" y="306324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[News]           HEROIC Muslim Student Helps Track Down…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264408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18304" y="3300984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[left-news]    HILLARY APPEARS Wearing Anti-Seizure Sunglasses…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502152"/>
            <a:ext cx="4224528" cy="22860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18304" y="353872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[politics]      DIAMOND and SILK Have Message For GOP…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3739896"/>
            <a:ext cx="4224528" cy="228600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18304" y="37764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[News]           Trump Admin Deals STUNNING Threat To Alaska…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986784"/>
            <a:ext cx="4224528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63440" y="3986784"/>
            <a:ext cx="54864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40325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count: mean 417 · median 401 · min 0 · max 1,244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370832"/>
            <a:ext cx="4224528" cy="530352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4370832"/>
            <a:ext cx="54864" cy="53035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73168" y="440740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Fake articles with [politicsNews] / formal-looking subjects — longer articles (mean 417 words) mimicking real journalistic structure. Model tricked by surface-level professionalism.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Model Evaluation Curves (Track B, Decontaminated)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11887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Track B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63040"/>
            <a:ext cx="8631936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32186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(Linear) — Track B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93008"/>
            <a:ext cx="8631936" cy="1417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032" y="4956048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AUC = 0.9992, PR-AUC = 0.9991  ·  SVM: AUC = 0.9998, PR-AUC = 0.9998  ·  Both near-perfect on clean Track B data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 — Logistic Regression: Top Predictors (Track B)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8631936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526280"/>
            <a:ext cx="2816352" cy="5486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4526280"/>
            <a:ext cx="64008" cy="548640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3192" y="45445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Real Predictors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3192" y="4745736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'said', 'washington', 'on wednesday/tuesday' — formal dateline reporting language, AP/Reuters style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4526280"/>
            <a:ext cx="2816352" cy="5486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4526280"/>
            <a:ext cx="64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37560" y="45445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Fake Predictors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37560" y="4745736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'video', 'via', 'read more', 'image via' — social media sharing artifacts, engagement-bait language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4768" y="4526280"/>
            <a:ext cx="2816352" cy="548640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44768" y="4526280"/>
            <a:ext cx="64008" cy="5486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81928" y="454456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81928" y="4745736"/>
            <a:ext cx="2606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decontamination, model captures genuine journalistic style vs. informal web content — not just source identity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 — SHAP Feature Importance: Random Forest (Track C)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0"/>
            <a:ext cx="52120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1188720"/>
            <a:ext cx="326440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0" y="1225296"/>
            <a:ext cx="3081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560" y="1572768"/>
            <a:ext cx="3264408" cy="603504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0" y="1609344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title_words (top feature)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1828800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values (short titles) → Real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values (long titles) → Fake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SHAP impact by far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2231136"/>
            <a:ext cx="3264408" cy="603504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267712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quest_density &amp; excl_density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0" y="2487168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punctuation density pushes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Fake — sensationalist markers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2889504"/>
            <a:ext cx="3264408" cy="603504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0" y="2926080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flesch_ease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3145536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ease score (simpler 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Fake classification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23560" y="3547872"/>
            <a:ext cx="3264408" cy="603504"/>
          </a:xfrm>
          <a:prstGeom prst="rect">
            <a:avLst/>
          </a:prstGeom>
          <a:solidFill>
            <a:srgbClr val="EDEBE8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15000" y="3584448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vader_neg &amp; caps_ratio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0" y="3803904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amplification features;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caps_ratio has high-outlier Fake cases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23560" y="4206240"/>
            <a:ext cx="3264408" cy="603504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15000" y="4242816"/>
            <a:ext cx="3081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type_token_ratio &amp; smog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15000" y="4462272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vocabulary richness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→ stronger Real signal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Research Findings — Phases 1–6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816352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243584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271016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Real — But Text Signal Is Genuine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(AUC=1.00) and Reuters (~99%) are pure shortcuts. Yet after full decontamination, LR F1 drops only 0.0025 and SVM actually improves (+0.0037). The text itself contains authentic discriminative signal beyond source identity.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816352" cy="347472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243584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30752" y="1271016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57276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Outperform Complex Ones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&gt; LR &gt;&gt; RF/LGBM on clean TF-IDF. Train gap: SVM 0.005 vs RF 0.059. High-dim TF-IDF space is already linearly separable — additional model complexity adds variance, not discriminability. Occam's Razor holds.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4768" y="1188720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4768" y="1188720"/>
            <a:ext cx="2816352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243584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1271016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Evidence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36208" y="1572768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 Is a Genuine Signal (Not Noise)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style features → F1 0.88–0.93 with zero vocabulary. Title length (rb=−0.747) alone is the strongest predictor. Fake news is systematically shorter-titled, simpler (Flesch +8.7), more negative (VADER −0.19 vs +0.26). Style differences are statistically robust (p &lt; 0.0083, Bonferroni).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072384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072384"/>
            <a:ext cx="2816352" cy="347472"/>
          </a:xfrm>
          <a:prstGeom prst="rect">
            <a:avLst/>
          </a:prstGeom>
          <a:solidFill>
            <a:srgbClr val="5B2333"/>
          </a:solidFill>
          <a:ln w="12700">
            <a:solidFill>
              <a:srgbClr val="5B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12724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3154680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45643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Superiority Is Statistically Confirmed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" y="3803904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 = 2.26e-16. LR makes 62 errors SVM gets right; SVM makes only 2 errors LR gets right. This is a 31:1 asymmetry — not random variation. SVM's maximum-margin property provides genuine generalisation advantage on this data.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072384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3072384"/>
            <a:ext cx="2816352" cy="347472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312724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3154680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345643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 Reveal a Cognitive Boundary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91840" y="3803904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pattern: real news with sensational formatting (ALL CAPS, [TWEET]) — model penalises style, not truth. FN pattern: fake news with formal [politicsNews] labels and longer text (mean 417 words) — model is fooled by surface professionalism. Errors cluster at the style-truth crossover zone.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3072384"/>
            <a:ext cx="2816352" cy="1773936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44768" y="3072384"/>
            <a:ext cx="2816352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36208" y="312724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154680"/>
            <a:ext cx="2157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Caveat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345643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Limitations Constrain Conclusions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36208" y="3803904"/>
            <a:ext cx="26334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6,252 duplicate texts, 6,852 near-duplicates, single domain (US political 2015–2017), temporal imbalance (33,030 missing dates). Even Track B/C F1 ≥ 0.99 should not be read as real-world performance. Cross-domain generalisation remains unvalidated.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Implications &amp; Future Directions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207008"/>
            <a:ext cx="4224528" cy="347472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627632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627632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 bias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political news only (2015–2017). Performance likely degrades on satire, scientific misinformation, or non-English content.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432304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432304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contamination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7432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across train/test splits may inflate reported F1. True held-out performance on future data is unknown.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236976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3236976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2918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modelling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547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see article text only — no author history, sharing network, metadata provenance, or claim verification against knowledge bases.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4041648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4041648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40965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vocabulary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3525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trained on 2015–2017 language. Adversarial actors can adapt style; a static model cannot track evolving deception strategies.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207008"/>
            <a:ext cx="4224528" cy="347472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2344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627632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64008" cy="749808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16824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evaluation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19385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LIAR, FakeNewsNet, CREDBANK datasets. Measure how much Track B/C performance degrades across domains and time periods.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432304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432304"/>
            <a:ext cx="64008" cy="749808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456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1456" y="27432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BERT/RoBERTa on decontaminated Track B — can contextual embeddings capture subtler deception patterns that TF-IDF misses?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236976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236976"/>
            <a:ext cx="64008" cy="749808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32918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3547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attack: rewrite fake articles to mimic real vocabulary. Quantify how much F1 drops — tests whether the model learned meaning or surface form.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041648"/>
            <a:ext cx="4224528" cy="749808"/>
          </a:xfrm>
          <a:prstGeom prst="rect">
            <a:avLst/>
          </a:prstGeom>
          <a:solidFill>
            <a:srgbClr val="F0EBE5"/>
          </a:solidFill>
          <a:ln w="12700">
            <a:solidFill>
              <a:srgbClr val="D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4041648"/>
            <a:ext cx="64008" cy="749808"/>
          </a:xfrm>
          <a:prstGeom prst="rect">
            <a:avLst/>
          </a:prstGeom>
          <a:solidFill>
            <a:srgbClr val="1F5C5C"/>
          </a:solidFill>
          <a:ln w="12700">
            <a:solidFill>
              <a:srgbClr val="1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91456" y="40965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Calibration-aware 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91456" y="43525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LR's well-calibrated probabilities for priority queuing rather than hard thresholding. Build reject-option classifier for ambiguous cases.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6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88920"/>
            <a:ext cx="3657600" cy="91440"/>
          </a:xfrm>
          <a:prstGeom prst="rect">
            <a:avLst/>
          </a:prstGeom>
          <a:solidFill>
            <a:srgbClr val="A07820"/>
          </a:solidFill>
          <a:ln w="12700">
            <a:solidFill>
              <a:srgbClr val="A07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DD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Hareen Sai Vatikuti  ·  Raj Purohith Arjun  ·  Venkateswarlu Nagineni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654  ·  Texas A&amp;M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 Dataset  ·  Phases 1–4  ·  44,898 Articles  ·  5-Fold Stratified CV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745183B7BF7A46ABE54D97C893197D" ma:contentTypeVersion="12" ma:contentTypeDescription="Create a new document." ma:contentTypeScope="" ma:versionID="028eae162f34eda33913a11d11f4b710">
  <xsd:schema xmlns:xsd="http://www.w3.org/2001/XMLSchema" xmlns:xs="http://www.w3.org/2001/XMLSchema" xmlns:p="http://schemas.microsoft.com/office/2006/metadata/properties" xmlns:ns3="b91b424d-5fb9-4b5c-8787-e3e4aabc2c7b" targetNamespace="http://schemas.microsoft.com/office/2006/metadata/properties" ma:root="true" ma:fieldsID="38fd1d64a6f58d7d2c57df96d6fbe536" ns3:_="">
    <xsd:import namespace="b91b424d-5fb9-4b5c-8787-e3e4aabc2c7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b424d-5fb9-4b5c-8787-e3e4aabc2c7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1b424d-5fb9-4b5c-8787-e3e4aabc2c7b" xsi:nil="true"/>
  </documentManagement>
</p:properties>
</file>

<file path=customXml/itemProps1.xml><?xml version="1.0" encoding="utf-8"?>
<ds:datastoreItem xmlns:ds="http://schemas.openxmlformats.org/officeDocument/2006/customXml" ds:itemID="{B8ED2169-AD6D-49AE-8181-28E8615E1A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1b424d-5fb9-4b5c-8787-e3e4aabc2c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773652-E3F2-43E6-92DC-25CB839902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1DF2FB-D0A8-46E3-A1D8-CE164A6D3074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91b424d-5fb9-4b5c-8787-e3e4aabc2c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3465</Words>
  <Application>Microsoft Office PowerPoint</Application>
  <PresentationFormat>On-screen Show (16:9)</PresentationFormat>
  <Paragraphs>593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ISOT Fake News Detection</dc:title>
  <dc:subject>PptxGenJS Presentation</dc:subject>
  <dc:creator>PptxGenJS</dc:creator>
  <cp:lastModifiedBy>Nagineni, Venkateswarlu</cp:lastModifiedBy>
  <cp:revision>3</cp:revision>
  <dcterms:created xsi:type="dcterms:W3CDTF">2026-04-16T23:02:28Z</dcterms:created>
  <dcterms:modified xsi:type="dcterms:W3CDTF">2026-04-16T23:07:45Z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0x010100FC745183B7BF7A46ABE54D97C893197D</vt:lpwstr>
  </property>
</Properties>
</file>